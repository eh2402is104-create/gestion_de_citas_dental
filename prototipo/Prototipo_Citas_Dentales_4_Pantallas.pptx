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B304C"/>
          </a:solidFill>
          <a:ln>
            <a:solidFill>
              <a:srgbClr val="1B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217E85"/>
          </a:solidFill>
          <a:ln>
            <a:solidFill>
              <a:srgbClr val="21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347472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55448"/>
            <a:ext cx="41148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Sonrisa | Agenda dental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92024"/>
            <a:ext cx="2743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1">
                <a:solidFill>
                  <a:srgbClr val="D3E0EE"/>
                </a:solidFill>
                <a:latin typeface="Aptos"/>
              </a:defRPr>
            </a:pPr>
            <a:r>
              <a:t>PROTOTIPO ACADÉMICO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7955279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1B304C"/>
                </a:solidFill>
                <a:latin typeface="Aptos"/>
              </a:defRPr>
            </a:pPr>
            <a:r>
              <a:t>Encuentra un horario para tu cita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417320"/>
            <a:ext cx="84124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0">
                <a:solidFill>
                  <a:srgbClr val="687687"/>
                </a:solidFill>
                <a:latin typeface="Aptos"/>
              </a:defRPr>
            </a:pPr>
            <a:r>
              <a:t>Selecciona una fecha y una hora disponible para continuar.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033271"/>
            <a:ext cx="896112" cy="320040"/>
          </a:xfrm>
          <a:prstGeom prst="roundRect">
            <a:avLst>
              <a:gd name="adj" fmla="val 12000"/>
            </a:avLst>
          </a:prstGeom>
          <a:solidFill>
            <a:srgbClr val="217E85"/>
          </a:solidFill>
          <a:ln>
            <a:solidFill>
              <a:srgbClr val="21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71815" y="1060704"/>
            <a:ext cx="8229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1. Horarios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22792" y="1033271"/>
            <a:ext cx="896112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9367" y="1060704"/>
            <a:ext cx="8229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687687"/>
                </a:solidFill>
                <a:latin typeface="Aptos"/>
              </a:defRPr>
            </a:pPr>
            <a:r>
              <a:t>2. Datos de cita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10344" y="1033271"/>
            <a:ext cx="896112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19" y="1060704"/>
            <a:ext cx="8229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687687"/>
                </a:solidFill>
                <a:latin typeface="Aptos"/>
              </a:defRPr>
            </a:pPr>
            <a:r>
              <a:t>3. Resultado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97896" y="1033271"/>
            <a:ext cx="896112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34472" y="1060704"/>
            <a:ext cx="8229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687687"/>
                </a:solidFill>
                <a:latin typeface="Aptos"/>
              </a:defRPr>
            </a:pPr>
            <a:r>
              <a:t>4. Alternativas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1965960"/>
            <a:ext cx="740664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221992"/>
            <a:ext cx="36576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1B304C"/>
                </a:solidFill>
                <a:latin typeface="Aptos"/>
              </a:defRPr>
            </a:pPr>
            <a:r>
              <a:t>Horarios disponibles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578608"/>
            <a:ext cx="4572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687687"/>
                </a:solidFill>
                <a:latin typeface="Aptos"/>
              </a:defRPr>
            </a:pPr>
            <a:r>
              <a:t>Octubre 2026 · Horarios de ejemplo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2971800"/>
            <a:ext cx="960120" cy="347472"/>
          </a:xfrm>
          <a:prstGeom prst="roundRect">
            <a:avLst>
              <a:gd name="adj" fmla="val 12000"/>
            </a:avLst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2999232"/>
            <a:ext cx="88696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000" b="1">
                <a:solidFill>
                  <a:srgbClr val="1B304C"/>
                </a:solidFill>
                <a:latin typeface="Aptos"/>
              </a:defRPr>
            </a:pPr>
            <a:r>
              <a:t>Jue. 22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2971800"/>
            <a:ext cx="96012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56816" y="2999232"/>
            <a:ext cx="88696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000" b="1">
                <a:solidFill>
                  <a:srgbClr val="687687"/>
                </a:solidFill>
                <a:latin typeface="Aptos"/>
              </a:defRPr>
            </a:pPr>
            <a:r>
              <a:t>Vie. 23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2971800"/>
            <a:ext cx="96012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08376" y="2999232"/>
            <a:ext cx="88696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000" b="1">
                <a:solidFill>
                  <a:srgbClr val="687687"/>
                </a:solidFill>
                <a:latin typeface="Aptos"/>
              </a:defRPr>
            </a:pPr>
            <a:r>
              <a:t>Sáb. 24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3566160"/>
            <a:ext cx="1938528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7" y="3666744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B304C"/>
                </a:solidFill>
                <a:latin typeface="Aptos"/>
              </a:defRPr>
            </a:pPr>
            <a:r>
              <a:t>09:00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7" y="3959352"/>
            <a:ext cx="12801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5875B"/>
                </a:solidFill>
                <a:latin typeface="Aptos"/>
              </a:defRPr>
            </a:pPr>
            <a:r>
              <a:t>Disponible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12264" y="3730752"/>
            <a:ext cx="566928" cy="32004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>
            <a:solidFill>
              <a:srgbClr val="E6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48840" y="3758184"/>
            <a:ext cx="493776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25875B"/>
                </a:solidFill>
                <a:latin typeface="Aptos"/>
              </a:defRPr>
            </a:pPr>
            <a:r>
              <a:t>Elegir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17520" y="3566160"/>
            <a:ext cx="1938528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27248" y="3666744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B304C"/>
                </a:solidFill>
                <a:latin typeface="Aptos"/>
              </a:defRPr>
            </a:pPr>
            <a:r>
              <a:t>10:30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7248" y="3959352"/>
            <a:ext cx="12801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5875B"/>
                </a:solidFill>
                <a:latin typeface="Aptos"/>
              </a:defRPr>
            </a:pPr>
            <a:r>
              <a:t>Disponible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61104" y="3730752"/>
            <a:ext cx="566928" cy="32004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>
            <a:solidFill>
              <a:srgbClr val="E6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3758184"/>
            <a:ext cx="493776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25875B"/>
                </a:solidFill>
                <a:latin typeface="Aptos"/>
              </a:defRPr>
            </a:pPr>
            <a:r>
              <a:t>Elegir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66360" y="3566160"/>
            <a:ext cx="1938528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76088" y="3666744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B304C"/>
                </a:solidFill>
                <a:latin typeface="Aptos"/>
              </a:defRPr>
            </a:pPr>
            <a:r>
              <a:t>12:00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76088" y="3959352"/>
            <a:ext cx="12801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5875B"/>
                </a:solidFill>
                <a:latin typeface="Aptos"/>
              </a:defRPr>
            </a:pPr>
            <a:r>
              <a:t>Disponible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9944" y="3730752"/>
            <a:ext cx="566928" cy="32004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>
            <a:solidFill>
              <a:srgbClr val="E6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3758184"/>
            <a:ext cx="493776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25875B"/>
                </a:solidFill>
                <a:latin typeface="Aptos"/>
              </a:defRPr>
            </a:pPr>
            <a:r>
              <a:t>Elegir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" y="4480560"/>
            <a:ext cx="1938528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7" y="4581144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B304C"/>
                </a:solidFill>
                <a:latin typeface="Aptos"/>
              </a:defRPr>
            </a:pPr>
            <a:r>
              <a:t>15:00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7" y="4873752"/>
            <a:ext cx="12801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5875B"/>
                </a:solidFill>
                <a:latin typeface="Aptos"/>
              </a:defRPr>
            </a:pPr>
            <a:r>
              <a:t>Disponible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12264" y="4645152"/>
            <a:ext cx="566928" cy="32004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>
            <a:solidFill>
              <a:srgbClr val="E6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48840" y="4672584"/>
            <a:ext cx="493776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25875B"/>
                </a:solidFill>
                <a:latin typeface="Aptos"/>
              </a:defRPr>
            </a:pPr>
            <a:r>
              <a:t>Elegir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17520" y="4480560"/>
            <a:ext cx="1938528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27248" y="4581144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B304C"/>
                </a:solidFill>
                <a:latin typeface="Aptos"/>
              </a:defRPr>
            </a:pPr>
            <a:r>
              <a:t>16:30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27248" y="4873752"/>
            <a:ext cx="12801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5875B"/>
                </a:solidFill>
                <a:latin typeface="Aptos"/>
              </a:defRPr>
            </a:pPr>
            <a:r>
              <a:t>Disponible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61104" y="4645152"/>
            <a:ext cx="566928" cy="32004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>
            <a:solidFill>
              <a:srgbClr val="E6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97680" y="4672584"/>
            <a:ext cx="493776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25875B"/>
                </a:solidFill>
                <a:latin typeface="Aptos"/>
              </a:defRPr>
            </a:pPr>
            <a:r>
              <a:t>Elegir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66360" y="4480560"/>
            <a:ext cx="1938528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76088" y="4581144"/>
            <a:ext cx="9144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B304C"/>
                </a:solidFill>
                <a:latin typeface="Aptos"/>
              </a:defRPr>
            </a:pPr>
            <a:r>
              <a:t>17:30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76088" y="4873752"/>
            <a:ext cx="12801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25875B"/>
                </a:solidFill>
                <a:latin typeface="Aptos"/>
              </a:defRPr>
            </a:pPr>
            <a:r>
              <a:t>Disponible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9944" y="4645152"/>
            <a:ext cx="566928" cy="32004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>
            <a:solidFill>
              <a:srgbClr val="E6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4672584"/>
            <a:ext cx="493776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25875B"/>
                </a:solidFill>
                <a:latin typeface="Aptos"/>
              </a:defRPr>
            </a:pPr>
            <a:r>
              <a:t>Elegir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75320" y="1965960"/>
            <a:ext cx="333756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77072" y="2267712"/>
            <a:ext cx="26517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 b="1">
                <a:solidFill>
                  <a:srgbClr val="1B304C"/>
                </a:solidFill>
                <a:latin typeface="Aptos"/>
              </a:defRPr>
            </a:pPr>
            <a:r>
              <a:t>Antes de reservar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77072" y="2743200"/>
            <a:ext cx="2606040" cy="9601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0">
                <a:solidFill>
                  <a:srgbClr val="2B3645"/>
                </a:solidFill>
                <a:latin typeface="Aptos"/>
              </a:defRPr>
            </a:pPr>
            <a:r>
              <a:t>Ten a la mano tus datos de contacto y el motivo de tu consulta.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77072" y="3886200"/>
            <a:ext cx="2697480" cy="841248"/>
          </a:xfrm>
          <a:prstGeom prst="roundRect">
            <a:avLst>
              <a:gd name="adj" fmla="val 12000"/>
            </a:avLst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50808" y="4050791"/>
            <a:ext cx="2331720" cy="51206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1B304C"/>
                </a:solidFill>
                <a:latin typeface="Aptos"/>
              </a:defRPr>
            </a:pPr>
            <a:r>
              <a:t>Los horarios mostrados son ejemplos del prototipo.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77072" y="5074920"/>
            <a:ext cx="256032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687687"/>
                </a:solidFill>
                <a:latin typeface="Aptos"/>
              </a:defRPr>
            </a:pPr>
            <a:r>
              <a:t>La cita se confirma solo si el horario sigue disponible.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87687"/>
                </a:solidFill>
                <a:latin typeface="Aptos"/>
              </a:defRPr>
            </a:pPr>
            <a:r>
              <a:t>Prototipo académico · Pantalla 1 de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B304C"/>
          </a:solidFill>
          <a:ln>
            <a:solidFill>
              <a:srgbClr val="1B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217E85"/>
          </a:solidFill>
          <a:ln>
            <a:solidFill>
              <a:srgbClr val="21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347472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55448"/>
            <a:ext cx="41148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Sonrisa | Agenda dental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92024"/>
            <a:ext cx="2743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1">
                <a:solidFill>
                  <a:srgbClr val="D3E0EE"/>
                </a:solidFill>
                <a:latin typeface="Aptos"/>
              </a:defRPr>
            </a:pPr>
            <a:r>
              <a:t>PROTOTIPO ACADÉMICO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7955279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1B304C"/>
                </a:solidFill>
                <a:latin typeface="Aptos"/>
              </a:defRPr>
            </a:pPr>
            <a:r>
              <a:t>Completa los datos de tu cita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417320"/>
            <a:ext cx="84124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0">
                <a:solidFill>
                  <a:srgbClr val="687687"/>
                </a:solidFill>
                <a:latin typeface="Aptos"/>
              </a:defRPr>
            </a:pPr>
            <a:r>
              <a:t>Los campos marcados con * son obligatorios.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033271"/>
            <a:ext cx="896112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71815" y="1060704"/>
            <a:ext cx="8229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687687"/>
                </a:solidFill>
                <a:latin typeface="Aptos"/>
              </a:defRPr>
            </a:pPr>
            <a:r>
              <a:t>1. Horarios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22792" y="1033271"/>
            <a:ext cx="896112" cy="320040"/>
          </a:xfrm>
          <a:prstGeom prst="roundRect">
            <a:avLst>
              <a:gd name="adj" fmla="val 12000"/>
            </a:avLst>
          </a:prstGeom>
          <a:solidFill>
            <a:srgbClr val="217E85"/>
          </a:solidFill>
          <a:ln>
            <a:solidFill>
              <a:srgbClr val="21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9367" y="1060704"/>
            <a:ext cx="8229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2. Datos de cita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10344" y="1033271"/>
            <a:ext cx="896112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19" y="1060704"/>
            <a:ext cx="8229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687687"/>
                </a:solidFill>
                <a:latin typeface="Aptos"/>
              </a:defRPr>
            </a:pPr>
            <a:r>
              <a:t>3. Resultado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97896" y="1033271"/>
            <a:ext cx="896112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34472" y="1060704"/>
            <a:ext cx="8229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687687"/>
                </a:solidFill>
                <a:latin typeface="Aptos"/>
              </a:defRPr>
            </a:pPr>
            <a:r>
              <a:t>4. Alternativas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965960"/>
            <a:ext cx="6995160" cy="4315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212848"/>
            <a:ext cx="45720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 b="1">
                <a:solidFill>
                  <a:srgbClr val="1B304C"/>
                </a:solidFill>
                <a:latin typeface="Aptos"/>
              </a:defRPr>
            </a:pPr>
            <a:r>
              <a:t>Datos del paciente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697480"/>
            <a:ext cx="2880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87687"/>
                </a:solidFill>
                <a:latin typeface="Aptos"/>
              </a:defRPr>
            </a:pPr>
            <a:r>
              <a:t>Nombre completo *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2953512"/>
            <a:ext cx="2880360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1288" y="3026664"/>
            <a:ext cx="2660904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2B3645"/>
                </a:solidFill>
                <a:latin typeface="Aptos"/>
              </a:defRPr>
            </a:pPr>
            <a:r>
              <a:t>Ej. Ana López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2697480"/>
            <a:ext cx="123444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87687"/>
                </a:solidFill>
                <a:latin typeface="Aptos"/>
              </a:defRPr>
            </a:pPr>
            <a:r>
              <a:t>Edad *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2953512"/>
            <a:ext cx="1234440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0248" y="3026664"/>
            <a:ext cx="1014984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2B3645"/>
                </a:solidFill>
                <a:latin typeface="Aptos"/>
              </a:defRPr>
            </a:pPr>
            <a:r>
              <a:t>Ej. 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697480"/>
            <a:ext cx="178308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87687"/>
                </a:solidFill>
                <a:latin typeface="Aptos"/>
              </a:defRPr>
            </a:pPr>
            <a:r>
              <a:t>Teléfono *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40" y="2953512"/>
            <a:ext cx="1783080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3026664"/>
            <a:ext cx="1563624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2B3645"/>
                </a:solidFill>
                <a:latin typeface="Aptos"/>
              </a:defRPr>
            </a:pPr>
            <a:r>
              <a:t>Ej. 228 123 4567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566160"/>
            <a:ext cx="630936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87687"/>
                </a:solidFill>
                <a:latin typeface="Aptos"/>
              </a:defRPr>
            </a:pPr>
            <a:r>
              <a:t>Motivo de consulta *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3822191"/>
            <a:ext cx="6309360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" y="3895344"/>
            <a:ext cx="6089904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2B3645"/>
                </a:solidFill>
                <a:latin typeface="Aptos"/>
              </a:defRPr>
            </a:pPr>
            <a:r>
              <a:t>Ej. Revisión dental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434840"/>
            <a:ext cx="192024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87687"/>
                </a:solidFill>
                <a:latin typeface="Aptos"/>
              </a:defRPr>
            </a:pPr>
            <a:r>
              <a:t>Alergias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4690872"/>
            <a:ext cx="1920240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61288" y="4764024"/>
            <a:ext cx="1700784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2B3645"/>
                </a:solidFill>
                <a:latin typeface="Aptos"/>
              </a:defRPr>
            </a:pPr>
            <a:r>
              <a:t>Si aplica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4434840"/>
            <a:ext cx="192024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87687"/>
                </a:solidFill>
                <a:latin typeface="Aptos"/>
              </a:defRPr>
            </a:pPr>
            <a:r>
              <a:t>Enfermedades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54680" y="4690872"/>
            <a:ext cx="1920240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64408" y="4764024"/>
            <a:ext cx="1700784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2B3645"/>
                </a:solidFill>
                <a:latin typeface="Aptos"/>
              </a:defRPr>
            </a:pPr>
            <a:r>
              <a:t>Si aplica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4434840"/>
            <a:ext cx="2103120" cy="2103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687687"/>
                </a:solidFill>
                <a:latin typeface="Aptos"/>
              </a:defRPr>
            </a:pPr>
            <a:r>
              <a:t>Medicamentos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57800" y="4690872"/>
            <a:ext cx="2103120" cy="429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67528" y="4764024"/>
            <a:ext cx="1883663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2B3645"/>
                </a:solidFill>
                <a:latin typeface="Aptos"/>
              </a:defRPr>
            </a:pPr>
            <a:r>
              <a:t>Si aplica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1560" y="5349240"/>
            <a:ext cx="2057400" cy="347472"/>
          </a:xfrm>
          <a:prstGeom prst="roundRect">
            <a:avLst>
              <a:gd name="adj" fmla="val 12000"/>
            </a:avLst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8136" y="5376672"/>
            <a:ext cx="198424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000" b="1">
                <a:solidFill>
                  <a:srgbClr val="1B304C"/>
                </a:solidFill>
                <a:latin typeface="Aptos"/>
              </a:defRPr>
            </a:pPr>
            <a:r>
              <a:t>Horario elegido: 10:30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74920" y="5596128"/>
            <a:ext cx="2286000" cy="438912"/>
          </a:xfrm>
          <a:prstGeom prst="roundRect">
            <a:avLst>
              <a:gd name="adj" fmla="val 12000"/>
            </a:avLst>
          </a:prstGeom>
          <a:solidFill>
            <a:srgbClr val="217E85"/>
          </a:solidFill>
          <a:ln>
            <a:solidFill>
              <a:srgbClr val="21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5632704"/>
            <a:ext cx="2194560" cy="36575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Enviar solicitud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92440" y="1965960"/>
            <a:ext cx="3520440" cy="4315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2286000"/>
            <a:ext cx="27432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B304C"/>
                </a:solidFill>
                <a:latin typeface="Aptos"/>
              </a:defRPr>
            </a:pPr>
            <a:r>
              <a:t>Revisa antes de enviar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2880360"/>
            <a:ext cx="2788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25875B"/>
                </a:solidFill>
                <a:latin typeface="Aptos"/>
              </a:defRPr>
            </a:pPr>
            <a:r>
              <a:t>✓ Nombre, edad y teléfono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319272"/>
            <a:ext cx="2788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25875B"/>
                </a:solidFill>
                <a:latin typeface="Aptos"/>
              </a:defRPr>
            </a:pPr>
            <a:r>
              <a:t>✓ Motivo de consulta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3758183"/>
            <a:ext cx="2788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687687"/>
                </a:solidFill>
                <a:latin typeface="Aptos"/>
              </a:defRPr>
            </a:pPr>
            <a:r>
              <a:t>○ Alergias (opcional)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197096"/>
            <a:ext cx="2788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687687"/>
                </a:solidFill>
                <a:latin typeface="Aptos"/>
              </a:defRPr>
            </a:pPr>
            <a:r>
              <a:t>○ Enfermedades (opcional)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636008"/>
            <a:ext cx="2788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687687"/>
                </a:solidFill>
                <a:latin typeface="Aptos"/>
              </a:defRPr>
            </a:pPr>
            <a:r>
              <a:t>○ Medicamentos (opcional)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12480" y="5349240"/>
            <a:ext cx="2834640" cy="566928"/>
          </a:xfrm>
          <a:prstGeom prst="roundRect">
            <a:avLst>
              <a:gd name="adj" fmla="val 12000"/>
            </a:avLst>
          </a:prstGeom>
          <a:solidFill>
            <a:srgbClr val="FFF4E1"/>
          </a:solidFill>
          <a:ln>
            <a:solidFill>
              <a:srgbClr val="FFF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77072" y="5477256"/>
            <a:ext cx="25146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1">
                <a:solidFill>
                  <a:srgbClr val="B46F18"/>
                </a:solidFill>
                <a:latin typeface="Aptos"/>
              </a:defRPr>
            </a:pPr>
            <a:r>
              <a:t>No uses datos reales en este prototipo.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87687"/>
                </a:solidFill>
                <a:latin typeface="Aptos"/>
              </a:defRPr>
            </a:pPr>
            <a:r>
              <a:t>Prototipo académico · Pantalla 2 de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B304C"/>
          </a:solidFill>
          <a:ln>
            <a:solidFill>
              <a:srgbClr val="1B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217E85"/>
          </a:solidFill>
          <a:ln>
            <a:solidFill>
              <a:srgbClr val="21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347472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55448"/>
            <a:ext cx="41148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Sonrisa | Agenda dental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92024"/>
            <a:ext cx="2743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1">
                <a:solidFill>
                  <a:srgbClr val="D3E0EE"/>
                </a:solidFill>
                <a:latin typeface="Aptos"/>
              </a:defRPr>
            </a:pPr>
            <a:r>
              <a:t>PROTOTIPO ACADÉMICO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7955279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1B304C"/>
                </a:solidFill>
                <a:latin typeface="Aptos"/>
              </a:defRPr>
            </a:pPr>
            <a:r>
              <a:t>Resultado de la reservación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417320"/>
            <a:ext cx="84124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0">
                <a:solidFill>
                  <a:srgbClr val="687687"/>
                </a:solidFill>
                <a:latin typeface="Aptos"/>
              </a:defRPr>
            </a:pPr>
            <a:r>
              <a:t>Ejemplo de confirmación cuando todos los datos son válidos y el horario sigue libre.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033271"/>
            <a:ext cx="896112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71815" y="1060704"/>
            <a:ext cx="8229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687687"/>
                </a:solidFill>
                <a:latin typeface="Aptos"/>
              </a:defRPr>
            </a:pPr>
            <a:r>
              <a:t>1. Horarios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22792" y="1033271"/>
            <a:ext cx="896112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9367" y="1060704"/>
            <a:ext cx="8229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687687"/>
                </a:solidFill>
                <a:latin typeface="Aptos"/>
              </a:defRPr>
            </a:pPr>
            <a:r>
              <a:t>2. Datos de cita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10344" y="1033271"/>
            <a:ext cx="896112" cy="320040"/>
          </a:xfrm>
          <a:prstGeom prst="roundRect">
            <a:avLst>
              <a:gd name="adj" fmla="val 12000"/>
            </a:avLst>
          </a:prstGeom>
          <a:solidFill>
            <a:srgbClr val="217E85"/>
          </a:solidFill>
          <a:ln>
            <a:solidFill>
              <a:srgbClr val="21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19" y="1060704"/>
            <a:ext cx="8229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3. Resultado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97896" y="1033271"/>
            <a:ext cx="896112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34472" y="1060704"/>
            <a:ext cx="8229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687687"/>
                </a:solidFill>
                <a:latin typeface="Aptos"/>
              </a:defRPr>
            </a:pPr>
            <a:r>
              <a:t>4. Alternativas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2011680"/>
            <a:ext cx="85039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57800" y="2359152"/>
            <a:ext cx="1463040" cy="105156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>
            <a:solidFill>
              <a:srgbClr val="E6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2532888"/>
            <a:ext cx="14630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3000" b="1">
                <a:solidFill>
                  <a:srgbClr val="25875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611880"/>
            <a:ext cx="66751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2300" b="1">
                <a:solidFill>
                  <a:srgbClr val="1B304C"/>
                </a:solidFill>
                <a:latin typeface="Aptos"/>
              </a:defRPr>
            </a:pPr>
            <a:r>
              <a:t>¡Tu cita está confirmada!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096512"/>
            <a:ext cx="66751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200" b="0">
                <a:solidFill>
                  <a:srgbClr val="687687"/>
                </a:solidFill>
                <a:latin typeface="Aptos"/>
              </a:defRPr>
            </a:pPr>
            <a:r>
              <a:t>La solicitud pasó las validaciones del prototipo.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4617720"/>
            <a:ext cx="1993392" cy="685800"/>
          </a:xfrm>
          <a:prstGeom prst="roundRect">
            <a:avLst>
              <a:gd name="adj" fmla="val 12000"/>
            </a:avLst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62072" y="4718304"/>
            <a:ext cx="1847088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900" b="1">
                <a:solidFill>
                  <a:srgbClr val="687687"/>
                </a:solidFill>
                <a:latin typeface="Aptos"/>
              </a:defRPr>
            </a:pPr>
            <a:r>
              <a:t>Fecha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62072" y="4956048"/>
            <a:ext cx="1847088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000" b="1">
                <a:solidFill>
                  <a:srgbClr val="1B304C"/>
                </a:solidFill>
                <a:latin typeface="Aptos"/>
              </a:defRPr>
            </a:pPr>
            <a:r>
              <a:t>Jueves 22 de octubre de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01768" y="4617720"/>
            <a:ext cx="1993392" cy="685800"/>
          </a:xfrm>
          <a:prstGeom prst="roundRect">
            <a:avLst>
              <a:gd name="adj" fmla="val 12000"/>
            </a:avLst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4718304"/>
            <a:ext cx="1847088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900" b="1">
                <a:solidFill>
                  <a:srgbClr val="687687"/>
                </a:solidFill>
                <a:latin typeface="Aptos"/>
              </a:defRPr>
            </a:pPr>
            <a:r>
              <a:t>Hora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956048"/>
            <a:ext cx="1847088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000" b="1">
                <a:solidFill>
                  <a:srgbClr val="1B304C"/>
                </a:solidFill>
                <a:latin typeface="Aptos"/>
              </a:defRPr>
            </a:pPr>
            <a:r>
              <a:t>10:30 a. 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14616" y="4617720"/>
            <a:ext cx="1993392" cy="685800"/>
          </a:xfrm>
          <a:prstGeom prst="roundRect">
            <a:avLst>
              <a:gd name="adj" fmla="val 12000"/>
            </a:avLst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7768" y="4718304"/>
            <a:ext cx="1847088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900" b="1">
                <a:solidFill>
                  <a:srgbClr val="687687"/>
                </a:solidFill>
                <a:latin typeface="Aptos"/>
              </a:defRPr>
            </a:pPr>
            <a:r>
              <a:t>Motivo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4956048"/>
            <a:ext cx="1847088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000" b="1">
                <a:solidFill>
                  <a:srgbClr val="1B304C"/>
                </a:solidFill>
                <a:latin typeface="Aptos"/>
              </a:defRPr>
            </a:pPr>
            <a:r>
              <a:t>Revisión dental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94760" y="5577840"/>
            <a:ext cx="1965960" cy="438912"/>
          </a:xfrm>
          <a:prstGeom prst="roundRect">
            <a:avLst>
              <a:gd name="adj" fmla="val 12000"/>
            </a:avLst>
          </a:prstGeom>
          <a:solidFill>
            <a:srgbClr val="1B304C"/>
          </a:solidFill>
          <a:ln>
            <a:solidFill>
              <a:srgbClr val="1B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0" y="5614416"/>
            <a:ext cx="1874519" cy="36575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Volver a horarios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89320" y="5577840"/>
            <a:ext cx="2423160" cy="438912"/>
          </a:xfrm>
          <a:prstGeom prst="roundRect">
            <a:avLst>
              <a:gd name="adj" fmla="val 12000"/>
            </a:avLst>
          </a:prstGeom>
          <a:solidFill>
            <a:srgbClr val="217E85"/>
          </a:solidFill>
          <a:ln>
            <a:solidFill>
              <a:srgbClr val="21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5614416"/>
            <a:ext cx="2331720" cy="36575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Ver mis datos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6108192"/>
            <a:ext cx="649224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0">
                <a:solidFill>
                  <a:srgbClr val="687687"/>
                </a:solidFill>
                <a:latin typeface="Aptos"/>
              </a:defRPr>
            </a:pPr>
            <a:r>
              <a:t>Pantalla ilustrativa; no se envía una confirmación real.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87687"/>
                </a:solidFill>
                <a:latin typeface="Aptos"/>
              </a:defRPr>
            </a:pPr>
            <a:r>
              <a:t>Prototipo académico · Pantalla 3 de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B304C"/>
          </a:solidFill>
          <a:ln>
            <a:solidFill>
              <a:srgbClr val="1B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64592"/>
            <a:ext cx="347472" cy="347472"/>
          </a:xfrm>
          <a:prstGeom prst="roundRect">
            <a:avLst>
              <a:gd name="adj" fmla="val 12000"/>
            </a:avLst>
          </a:prstGeom>
          <a:solidFill>
            <a:srgbClr val="217E85"/>
          </a:solidFill>
          <a:ln>
            <a:solidFill>
              <a:srgbClr val="21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347472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55448"/>
            <a:ext cx="411480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Sonrisa | Agenda dental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92024"/>
            <a:ext cx="27432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defRPr sz="900" b="1">
                <a:solidFill>
                  <a:srgbClr val="D3E0EE"/>
                </a:solidFill>
                <a:latin typeface="Aptos"/>
              </a:defRPr>
            </a:pPr>
            <a:r>
              <a:t>PROTOTIPO ACADÉMICO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7955279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2400" b="1">
                <a:solidFill>
                  <a:srgbClr val="1B304C"/>
                </a:solidFill>
                <a:latin typeface="Aptos"/>
              </a:defRPr>
            </a:pPr>
            <a:r>
              <a:t>Ese horario ya no está disponible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417320"/>
            <a:ext cx="8412480" cy="31089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100" b="0">
                <a:solidFill>
                  <a:srgbClr val="687687"/>
                </a:solidFill>
                <a:latin typeface="Aptos"/>
              </a:defRPr>
            </a:pPr>
            <a:r>
              <a:t>Te sugerimos otras opciones cercanas para que puedas continuar.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033271"/>
            <a:ext cx="896112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71815" y="1060704"/>
            <a:ext cx="8229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687687"/>
                </a:solidFill>
                <a:latin typeface="Aptos"/>
              </a:defRPr>
            </a:pPr>
            <a:r>
              <a:t>1. Horarios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22792" y="1033271"/>
            <a:ext cx="896112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9367" y="1060704"/>
            <a:ext cx="8229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687687"/>
                </a:solidFill>
                <a:latin typeface="Aptos"/>
              </a:defRPr>
            </a:pPr>
            <a:r>
              <a:t>2. Datos de cita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10344" y="1033271"/>
            <a:ext cx="896112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19" y="1060704"/>
            <a:ext cx="8229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687687"/>
                </a:solidFill>
                <a:latin typeface="Aptos"/>
              </a:defRPr>
            </a:pPr>
            <a:r>
              <a:t>3. Resultado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97896" y="1033271"/>
            <a:ext cx="896112" cy="320040"/>
          </a:xfrm>
          <a:prstGeom prst="roundRect">
            <a:avLst>
              <a:gd name="adj" fmla="val 12000"/>
            </a:avLst>
          </a:prstGeom>
          <a:solidFill>
            <a:srgbClr val="217E85"/>
          </a:solidFill>
          <a:ln>
            <a:solidFill>
              <a:srgbClr val="217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34472" y="1060704"/>
            <a:ext cx="822960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4. Alternativas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1965960"/>
            <a:ext cx="713232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840" y="2267712"/>
            <a:ext cx="2011680" cy="347472"/>
          </a:xfrm>
          <a:prstGeom prst="roundRect">
            <a:avLst>
              <a:gd name="adj" fmla="val 12000"/>
            </a:avLst>
          </a:prstGeom>
          <a:solidFill>
            <a:srgbClr val="FDEDED"/>
          </a:solidFill>
          <a:ln>
            <a:solidFill>
              <a:srgbClr val="F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2295144"/>
            <a:ext cx="1938528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000" b="1">
                <a:solidFill>
                  <a:srgbClr val="B03F3F"/>
                </a:solidFill>
                <a:latin typeface="Aptos"/>
              </a:defRPr>
            </a:pPr>
            <a:r>
              <a:t>Horario ocupado: 10:30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788920"/>
            <a:ext cx="539496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700" b="1">
                <a:solidFill>
                  <a:srgbClr val="1B304C"/>
                </a:solidFill>
                <a:latin typeface="Aptos"/>
              </a:defRPr>
            </a:pPr>
            <a:r>
              <a:t>Horarios alternativos sugeridos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3273552"/>
            <a:ext cx="63550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392424"/>
            <a:ext cx="3200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1B304C"/>
                </a:solidFill>
                <a:latin typeface="Aptos"/>
              </a:defRPr>
            </a:pPr>
            <a:r>
              <a:t>Jue. 22 oct. · 12:00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419856"/>
            <a:ext cx="17373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687687"/>
                </a:solidFill>
                <a:latin typeface="Aptos"/>
              </a:defRPr>
            </a:pPr>
            <a:r>
              <a:t>Más próximo disponible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419856"/>
            <a:ext cx="777240" cy="32004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>
            <a:solidFill>
              <a:srgbClr val="E6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3447288"/>
            <a:ext cx="704088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25875B"/>
                </a:solidFill>
                <a:latin typeface="Aptos"/>
              </a:defRPr>
            </a:pPr>
            <a:r>
              <a:t>Elegir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096512"/>
            <a:ext cx="63550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215384"/>
            <a:ext cx="3200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1B304C"/>
                </a:solidFill>
                <a:latin typeface="Aptos"/>
              </a:defRPr>
            </a:pPr>
            <a:r>
              <a:t>Jue. 22 oct. · 15:00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242816"/>
            <a:ext cx="17373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687687"/>
                </a:solidFill>
                <a:latin typeface="Aptos"/>
              </a:defRPr>
            </a:pPr>
            <a:r>
              <a:t>Mismo día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242816"/>
            <a:ext cx="777240" cy="32004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>
            <a:solidFill>
              <a:srgbClr val="E6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1656" y="4270248"/>
            <a:ext cx="704088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25875B"/>
                </a:solidFill>
                <a:latin typeface="Aptos"/>
              </a:defRPr>
            </a:pPr>
            <a:r>
              <a:t>Elegir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4919472"/>
            <a:ext cx="63550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5038344"/>
            <a:ext cx="3200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1">
                <a:solidFill>
                  <a:srgbClr val="1B304C"/>
                </a:solidFill>
                <a:latin typeface="Aptos"/>
              </a:defRPr>
            </a:pPr>
            <a:r>
              <a:t>Vie. 23 oct. · 09:00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5065776"/>
            <a:ext cx="173736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900" b="0">
                <a:solidFill>
                  <a:srgbClr val="687687"/>
                </a:solidFill>
                <a:latin typeface="Aptos"/>
              </a:defRPr>
            </a:pPr>
            <a:r>
              <a:t>Siguiente opción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5065776"/>
            <a:ext cx="777240" cy="320040"/>
          </a:xfrm>
          <a:prstGeom prst="roundRect">
            <a:avLst>
              <a:gd name="adj" fmla="val 12000"/>
            </a:avLst>
          </a:prstGeom>
          <a:solidFill>
            <a:srgbClr val="E6F7EE"/>
          </a:solidFill>
          <a:ln>
            <a:solidFill>
              <a:srgbClr val="E6F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1656" y="5093208"/>
            <a:ext cx="704088" cy="26517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800" b="1">
                <a:solidFill>
                  <a:srgbClr val="25875B"/>
                </a:solidFill>
                <a:latin typeface="Aptos"/>
              </a:defRPr>
            </a:pPr>
            <a:r>
              <a:t>Elegir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1965960"/>
            <a:ext cx="352044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2286000"/>
            <a:ext cx="27432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500" b="1">
                <a:solidFill>
                  <a:srgbClr val="1B304C"/>
                </a:solidFill>
                <a:latin typeface="Aptos"/>
              </a:defRPr>
            </a:pPr>
            <a:r>
              <a:t>¿Cómo funciona?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788920"/>
            <a:ext cx="274320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200" b="0">
                <a:solidFill>
                  <a:srgbClr val="2B3645"/>
                </a:solidFill>
                <a:latin typeface="Aptos"/>
              </a:defRPr>
            </a:pPr>
            <a:r>
              <a:t>El prototipo ordena los horarios libres por fecha y hora y muestra hasta tres alternativas cercanas.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0" y="4434840"/>
            <a:ext cx="2788920" cy="960120"/>
          </a:xfrm>
          <a:prstGeom prst="roundRect">
            <a:avLst>
              <a:gd name="adj" fmla="val 12000"/>
            </a:avLst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4617720"/>
            <a:ext cx="2423160" cy="6217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000" b="0">
                <a:solidFill>
                  <a:srgbClr val="1B304C"/>
                </a:solidFill>
                <a:latin typeface="Aptos"/>
              </a:defRPr>
            </a:pPr>
            <a:r>
              <a:t>Función inteligente sencilla: una regla automatizada, no un modelo de IA.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5596128"/>
            <a:ext cx="2788920" cy="411480"/>
          </a:xfrm>
          <a:prstGeom prst="roundRect">
            <a:avLst>
              <a:gd name="adj" fmla="val 12000"/>
            </a:avLst>
          </a:prstGeom>
          <a:solidFill>
            <a:srgbClr val="1B304C"/>
          </a:solidFill>
          <a:ln>
            <a:solidFill>
              <a:srgbClr val="1B3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5632704"/>
            <a:ext cx="2697479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Regresar a horarios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800" b="0">
                <a:solidFill>
                  <a:srgbClr val="687687"/>
                </a:solidFill>
                <a:latin typeface="Aptos"/>
              </a:defRPr>
            </a:pPr>
            <a:r>
              <a:t>Prototipo académico · Pantalla 4 de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